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11"/>
  </p:notesMasterIdLst>
  <p:sldIdLst>
    <p:sldId id="265" r:id="rId3"/>
    <p:sldId id="257" r:id="rId4"/>
    <p:sldId id="267" r:id="rId5"/>
    <p:sldId id="258" r:id="rId6"/>
    <p:sldId id="259" r:id="rId7"/>
    <p:sldId id="266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DFF"/>
    <a:srgbClr val="2BAAD3"/>
    <a:srgbClr val="A7FDFF"/>
    <a:srgbClr val="D5FFA7"/>
    <a:srgbClr val="C3A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84" y="1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67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B1777-9B06-7185-3C82-6AF233EF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A1D03-2400-E940-D489-645EAC179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C51B6-4769-87E2-C029-C97E0FF2F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AA6EF-FA4E-DFBF-CC9E-4069A16FAC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11AE2-F3EC-541A-D0E6-0354704D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50131-82EF-E92E-6AA5-BF05CA163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99639-F059-5333-37F1-E6A164FB1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9B800-89C2-63F2-4993-EC76AE623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06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Master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F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3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32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721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04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9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65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8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53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63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680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F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b="0" cap="none" spc="15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b="0" cap="none" spc="15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b="0" cap="all" spc="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30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b="1" kern="1200" spc="9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 spc="7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 spc="7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 spc="7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7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7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6" name="Image 0" descr="/mnt/data/a_wide_futuristic_digital_concept_illustration_of.png">
            <a:extLst>
              <a:ext uri="{FF2B5EF4-FFF2-40B4-BE49-F238E27FC236}">
                <a16:creationId xmlns:a16="http://schemas.microsoft.com/office/drawing/2014/main" id="{DFDD231B-7D4D-ECDE-FFFE-9560EF38E5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9091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53FB427-6973-B8FE-F1CF-87EF43D62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818" y="1562101"/>
            <a:ext cx="4302441" cy="2738530"/>
          </a:xfrm>
        </p:spPr>
        <p:txBody>
          <a:bodyPr anchor="t">
            <a:noAutofit/>
          </a:bodyPr>
          <a:lstStyle/>
          <a:p>
            <a:pPr marL="0" indent="0">
              <a:lnSpc>
                <a:spcPct val="110000"/>
              </a:lnSpc>
            </a:pPr>
            <a:r>
              <a:rPr lang="en-US" altLang="ko-KR" sz="3600" b="1" dirty="0">
                <a:solidFill>
                  <a:srgbClr val="EBF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Based</a:t>
            </a:r>
            <a:br>
              <a:rPr lang="en-US" altLang="ko-KR" sz="3600" dirty="0">
                <a:solidFill>
                  <a:srgbClr val="EBFDFF"/>
                </a:solidFill>
              </a:rPr>
            </a:br>
            <a:r>
              <a:rPr lang="en-US" altLang="ko-KR" sz="3600" b="1" dirty="0">
                <a:solidFill>
                  <a:srgbClr val="EBF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Music Transcription</a:t>
            </a:r>
            <a:br>
              <a:rPr lang="en-US" altLang="ko-KR" sz="3600" dirty="0">
                <a:solidFill>
                  <a:srgbClr val="EBFDFF"/>
                </a:solidFill>
              </a:rPr>
            </a:br>
            <a:r>
              <a:rPr lang="en-US" altLang="ko-KR" sz="3600" b="1" dirty="0">
                <a:solidFill>
                  <a:srgbClr val="EBF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</a:t>
            </a:r>
            <a:r>
              <a:rPr lang="en-US" altLang="ko-KR" sz="3600" b="1" dirty="0" err="1">
                <a:solidFill>
                  <a:srgbClr val="EBF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MusicXML</a:t>
            </a:r>
            <a:r>
              <a:rPr lang="en-US" altLang="ko-KR" sz="3600" b="1" dirty="0">
                <a:solidFill>
                  <a:srgbClr val="EBF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Generation</a:t>
            </a:r>
            <a:endParaRPr lang="ko-KR" altLang="en-US" sz="3600" dirty="0">
              <a:solidFill>
                <a:srgbClr val="EBFDFF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32E9D5-E9A4-EF0E-55C9-630C30DBC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818" y="4104083"/>
            <a:ext cx="3816351" cy="941832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EBFDFF"/>
                </a:solidFill>
              </a:rPr>
              <a:t>Min Soo Kim</a:t>
            </a:r>
            <a:endParaRPr lang="en-US" altLang="ko-KR" dirty="0">
              <a:solidFill>
                <a:srgbClr val="EBFDF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513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321040" y="876927"/>
            <a:ext cx="3246120" cy="3246120"/>
          </a:xfrm>
          <a:prstGeom prst="arc">
            <a:avLst/>
          </a:prstGeom>
          <a:solidFill>
            <a:srgbClr val="FFFFFF">
              <a:alpha val="0"/>
            </a:srgbClr>
          </a:solidFill>
          <a:ln w="19050">
            <a:solidFill>
              <a:srgbClr val="4D7CF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4828033"/>
            <a:ext cx="2423160" cy="2423160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A979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3600" b="1" dirty="0">
                <a:solidFill>
                  <a:srgbClr val="34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&amp; GOAL</a:t>
            </a:r>
            <a:endParaRPr lang="en-US" altLang="ko-KR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180512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7FAFF"/>
                </a:solidFill>
              </a:rPr>
              <a:t>Music transcription is hard because real audio mixes many instruments, timing variations, noise, and performance expression.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" y="326065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4D3FF"/>
                </a:solidFill>
              </a:rPr>
              <a:t>●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42416" y="3242365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AFF"/>
                </a:solidFill>
              </a:rPr>
              <a:t>Mixed sources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2416" y="3553261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4D9"/>
                </a:solidFill>
              </a:rPr>
              <a:t>vocals, bass, drums, piano, guitar overlap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47288" y="326065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79FF"/>
                </a:solidFill>
              </a:rPr>
              <a:t>◆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831336" y="3242365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AFF"/>
                </a:solidFill>
              </a:rPr>
              <a:t>Performance timing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31336" y="3553261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4D9"/>
                </a:solidFill>
              </a:rPr>
              <a:t>human playing does not align perfectly to notation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36208" y="326065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7CF9D4"/>
                </a:solidFill>
              </a:rPr>
              <a:t>▰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20256" y="3242365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AFF"/>
                </a:solidFill>
              </a:rPr>
              <a:t>Amateur Musicians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0256" y="3553261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solidFill>
                  <a:srgbClr val="B9C4D9"/>
                </a:solidFill>
              </a:rPr>
              <a:t>hard to find sheet music for the pieces they wish to perform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025128" y="326065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D7CFE"/>
                </a:solidFill>
              </a:rPr>
              <a:t>♪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409176" y="3242365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AFF"/>
                </a:solidFill>
              </a:rPr>
              <a:t>Usability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09176" y="3553261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4D9"/>
                </a:solidFill>
              </a:rPr>
              <a:t>musicians need editable MusicXML, not only MIDI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48840" y="4762391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BFDFF"/>
                </a:solidFill>
              </a:rPr>
              <a:t>Generate an editable first draft of sheet music from audio clips</a:t>
            </a:r>
            <a:endParaRPr lang="en-US" sz="2300" dirty="0">
              <a:solidFill>
                <a:srgbClr val="EBFD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6309360"/>
            <a:ext cx="11064240" cy="0"/>
          </a:xfrm>
          <a:prstGeom prst="line">
            <a:avLst/>
          </a:prstGeom>
          <a:noFill/>
          <a:ln w="12700">
            <a:solidFill>
              <a:srgbClr val="2842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3564-9E70-FD79-0755-FDF3B917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B9FBC4A-3E4A-A2FF-05E6-5BDC1AE99E75}"/>
              </a:ext>
            </a:extLst>
          </p:cNvPr>
          <p:cNvSpPr/>
          <p:nvPr/>
        </p:nvSpPr>
        <p:spPr>
          <a:xfrm>
            <a:off x="8321040" y="876927"/>
            <a:ext cx="3246120" cy="3246120"/>
          </a:xfrm>
          <a:prstGeom prst="arc">
            <a:avLst/>
          </a:prstGeom>
          <a:solidFill>
            <a:srgbClr val="FFFFFF">
              <a:alpha val="0"/>
            </a:srgbClr>
          </a:solidFill>
          <a:ln w="19050">
            <a:solidFill>
              <a:srgbClr val="4D7CF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CFA4FD-E29E-2DC2-9AFC-B98775466CAA}"/>
              </a:ext>
            </a:extLst>
          </p:cNvPr>
          <p:cNvSpPr/>
          <p:nvPr/>
        </p:nvSpPr>
        <p:spPr>
          <a:xfrm>
            <a:off x="182880" y="4828033"/>
            <a:ext cx="2423160" cy="2423160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A979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F6F8129-6DF2-49F2-9A4E-E5C97473A4DD}"/>
              </a:ext>
            </a:extLst>
          </p:cNvPr>
          <p:cNvSpPr/>
          <p:nvPr/>
        </p:nvSpPr>
        <p:spPr>
          <a:xfrm>
            <a:off x="548640" y="69494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3600" b="1" dirty="0">
                <a:solidFill>
                  <a:srgbClr val="34D3FF"/>
                </a:solidFill>
                <a:latin typeface="Aptos" pitchFamily="34" charset="0"/>
              </a:rPr>
              <a:t>Background</a:t>
            </a:r>
            <a:endParaRPr lang="en-US" altLang="ko-KR" sz="3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EAEC303-6E51-9A64-9A08-F1897672BA09}"/>
              </a:ext>
            </a:extLst>
          </p:cNvPr>
          <p:cNvSpPr/>
          <p:nvPr/>
        </p:nvSpPr>
        <p:spPr>
          <a:xfrm>
            <a:off x="658368" y="195193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4D3FF"/>
                </a:solidFill>
              </a:rPr>
              <a:t>●</a:t>
            </a:r>
            <a:endParaRPr lang="en-US" sz="1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EEE3E35-72C6-CB24-35B1-6DDC52763B29}"/>
              </a:ext>
            </a:extLst>
          </p:cNvPr>
          <p:cNvSpPr/>
          <p:nvPr/>
        </p:nvSpPr>
        <p:spPr>
          <a:xfrm>
            <a:off x="1042416" y="193364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AFF"/>
                </a:solidFill>
              </a:rPr>
              <a:t>MIDI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CB2851F-C84D-4509-1FC6-24421D01F0FF}"/>
              </a:ext>
            </a:extLst>
          </p:cNvPr>
          <p:cNvSpPr/>
          <p:nvPr/>
        </p:nvSpPr>
        <p:spPr>
          <a:xfrm>
            <a:off x="658368" y="2376070"/>
            <a:ext cx="2304288" cy="267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B9C4D9"/>
                </a:solidFill>
              </a:rPr>
              <a:t>A symbolic music format that stores musical events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B9C4D9"/>
                </a:solidFill>
              </a:rPr>
              <a:t>Includes information such as pitch, note start time, duration, and velocity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B9C4D9"/>
                </a:solidFill>
              </a:rPr>
              <a:t>Similar to a “digital performance record,” not actual audio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C06BF36-3632-782D-E68E-077EF52307E2}"/>
              </a:ext>
            </a:extLst>
          </p:cNvPr>
          <p:cNvSpPr/>
          <p:nvPr/>
        </p:nvSpPr>
        <p:spPr>
          <a:xfrm>
            <a:off x="3447288" y="195193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79FF"/>
                </a:solidFill>
              </a:rPr>
              <a:t>◆</a:t>
            </a:r>
            <a:endParaRPr lang="en-US" sz="1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D1A26B6-97E9-9FA3-269F-BF3DC12940AE}"/>
              </a:ext>
            </a:extLst>
          </p:cNvPr>
          <p:cNvSpPr/>
          <p:nvPr/>
        </p:nvSpPr>
        <p:spPr>
          <a:xfrm>
            <a:off x="3831336" y="193364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7FAFF"/>
                </a:solidFill>
              </a:rPr>
              <a:t>MusicXML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3696086-9088-9D2D-EAF4-BCEA325521ED}"/>
              </a:ext>
            </a:extLst>
          </p:cNvPr>
          <p:cNvSpPr/>
          <p:nvPr/>
        </p:nvSpPr>
        <p:spPr>
          <a:xfrm>
            <a:off x="3461401" y="2376069"/>
            <a:ext cx="2404077" cy="299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B9C4D9"/>
                </a:solidFill>
              </a:rPr>
              <a:t>A notation-based file format for sheet music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B9C4D9"/>
                </a:solidFill>
              </a:rPr>
              <a:t>Stores notes, rests, measures, clefs, time signatures, key signatures, and instrument parts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B9C4D9"/>
                </a:solidFill>
              </a:rPr>
              <a:t>Can be opened and edited in notation software such as </a:t>
            </a:r>
            <a:r>
              <a:rPr lang="en-US" sz="1400" dirty="0" err="1">
                <a:solidFill>
                  <a:srgbClr val="B9C4D9"/>
                </a:solidFill>
              </a:rPr>
              <a:t>MuseScore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E4A4D7F-C88E-73E7-1D23-8CD32EC4E666}"/>
              </a:ext>
            </a:extLst>
          </p:cNvPr>
          <p:cNvSpPr/>
          <p:nvPr/>
        </p:nvSpPr>
        <p:spPr>
          <a:xfrm>
            <a:off x="6236208" y="195193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7CF9D4"/>
                </a:solidFill>
              </a:rPr>
              <a:t>▰</a:t>
            </a:r>
            <a:endParaRPr lang="en-US" sz="1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D814A01-80D5-C79D-2ADB-EE0FFE249CB0}"/>
              </a:ext>
            </a:extLst>
          </p:cNvPr>
          <p:cNvSpPr/>
          <p:nvPr/>
        </p:nvSpPr>
        <p:spPr>
          <a:xfrm>
            <a:off x="6620256" y="193364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AFF"/>
                </a:solidFill>
              </a:rPr>
              <a:t>Source Separation</a:t>
            </a:r>
            <a:endParaRPr lang="en-US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FE8DFF1-7604-D604-A4B8-E392D095C647}"/>
              </a:ext>
            </a:extLst>
          </p:cNvPr>
          <p:cNvSpPr/>
          <p:nvPr/>
        </p:nvSpPr>
        <p:spPr>
          <a:xfrm>
            <a:off x="6236208" y="2376069"/>
            <a:ext cx="2304288" cy="16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B9C4D9"/>
                </a:solidFill>
              </a:rPr>
              <a:t>The process of splitting mixed audio into stems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B9C4D9"/>
                </a:solidFill>
              </a:rPr>
              <a:t>Example stems: vocals, drums, bass, and accompaniment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4DFEFAD-23E3-20E2-246C-BA8CBD0B1705}"/>
              </a:ext>
            </a:extLst>
          </p:cNvPr>
          <p:cNvSpPr/>
          <p:nvPr/>
        </p:nvSpPr>
        <p:spPr>
          <a:xfrm>
            <a:off x="9025128" y="195193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D7CFE"/>
                </a:solidFill>
              </a:rPr>
              <a:t>♪</a:t>
            </a:r>
            <a:endParaRPr lang="en-US" sz="1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2D03B72-A1AB-EE9C-8679-C7DD0B43CFB3}"/>
              </a:ext>
            </a:extLst>
          </p:cNvPr>
          <p:cNvSpPr/>
          <p:nvPr/>
        </p:nvSpPr>
        <p:spPr>
          <a:xfrm>
            <a:off x="9409176" y="193364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AFF"/>
                </a:solidFill>
              </a:rPr>
              <a:t>Music Transcription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64AA3D0-599B-0EF4-2E4D-E4CF5EA879E9}"/>
              </a:ext>
            </a:extLst>
          </p:cNvPr>
          <p:cNvSpPr/>
          <p:nvPr/>
        </p:nvSpPr>
        <p:spPr>
          <a:xfrm>
            <a:off x="9025128" y="2376069"/>
            <a:ext cx="2404076" cy="24836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B9C4D9"/>
                </a:solidFill>
              </a:rPr>
              <a:t>The process of converting performed audio into symbolic notes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B9C4D9"/>
                </a:solidFill>
              </a:rPr>
              <a:t>In this project, transcription connects audio input to MIDI-like note data and then to </a:t>
            </a:r>
            <a:r>
              <a:rPr lang="en-US" sz="1400" dirty="0" err="1">
                <a:solidFill>
                  <a:srgbClr val="B9C4D9"/>
                </a:solidFill>
              </a:rPr>
              <a:t>MusicXML</a:t>
            </a:r>
            <a:r>
              <a:rPr lang="en-US" sz="1400" dirty="0">
                <a:solidFill>
                  <a:srgbClr val="B9C4D9"/>
                </a:solidFill>
              </a:rPr>
              <a:t> sheet music</a:t>
            </a:r>
            <a:endParaRPr lang="en-US" sz="14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9ECCACE-F1E9-0721-701D-DD6AB25EEADA}"/>
              </a:ext>
            </a:extLst>
          </p:cNvPr>
          <p:cNvSpPr/>
          <p:nvPr/>
        </p:nvSpPr>
        <p:spPr>
          <a:xfrm>
            <a:off x="548640" y="6309360"/>
            <a:ext cx="11064240" cy="0"/>
          </a:xfrm>
          <a:prstGeom prst="line">
            <a:avLst/>
          </a:prstGeom>
          <a:noFill/>
          <a:ln w="12700">
            <a:solidFill>
              <a:srgbClr val="2842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711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8321040" y="320040"/>
            <a:ext cx="3246120" cy="3246120"/>
          </a:xfrm>
          <a:prstGeom prst="arc">
            <a:avLst/>
          </a:prstGeom>
          <a:solidFill>
            <a:srgbClr val="FFFFFF">
              <a:alpha val="0"/>
            </a:srgbClr>
          </a:solidFill>
          <a:ln w="19050">
            <a:solidFill>
              <a:srgbClr val="4D7CF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4160520"/>
            <a:ext cx="2423160" cy="2423160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A979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022099E-D4D9-5CDA-0085-61773E4D0169}"/>
              </a:ext>
            </a:extLst>
          </p:cNvPr>
          <p:cNvGrpSpPr/>
          <p:nvPr/>
        </p:nvGrpSpPr>
        <p:grpSpPr>
          <a:xfrm>
            <a:off x="402957" y="2032576"/>
            <a:ext cx="11303429" cy="2792847"/>
            <a:chOff x="609872" y="2031518"/>
            <a:chExt cx="9937254" cy="2792847"/>
          </a:xfrm>
        </p:grpSpPr>
        <p:sp>
          <p:nvSpPr>
            <p:cNvPr id="16" name="Text 14"/>
            <p:cNvSpPr/>
            <p:nvPr/>
          </p:nvSpPr>
          <p:spPr>
            <a:xfrm>
              <a:off x="699516" y="2032344"/>
              <a:ext cx="1252728" cy="7223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7FAFF"/>
                  </a:solidFill>
                </a:rPr>
                <a:t>Audio File Upload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067734" y="2031931"/>
              <a:ext cx="1531448" cy="7223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7FAFF"/>
                  </a:solidFill>
                </a:rPr>
                <a:t>Preprocessing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F7FAFF"/>
                  </a:solidFill>
                </a:rPr>
                <a:t>librosa / torchaudio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656707" y="2031931"/>
              <a:ext cx="1965960" cy="7223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7FAFF"/>
                  </a:solidFill>
                </a:rPr>
                <a:t>Source Separation</a:t>
              </a:r>
            </a:p>
            <a:p>
              <a:pPr marL="0" indent="0" algn="ctr">
                <a:buNone/>
              </a:pPr>
              <a:r>
                <a:rPr lang="en-US" sz="1600" b="1" dirty="0" err="1">
                  <a:solidFill>
                    <a:srgbClr val="F7FAFF"/>
                  </a:solidFill>
                </a:rPr>
                <a:t>Demucs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222527" y="2031518"/>
              <a:ext cx="2324599" cy="7223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7FAFF"/>
                  </a:solidFill>
                </a:rPr>
                <a:t>Stem Classification</a:t>
              </a:r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Audio Spectrogram Transformer / Hugging Face fine-tuned classifier</a:t>
              </a:r>
            </a:p>
          </p:txBody>
        </p:sp>
        <p:sp>
          <p:nvSpPr>
            <p:cNvPr id="28" name="Text 26"/>
            <p:cNvSpPr/>
            <p:nvPr/>
          </p:nvSpPr>
          <p:spPr>
            <a:xfrm>
              <a:off x="609872" y="4101989"/>
              <a:ext cx="1432016" cy="7223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7FAFF"/>
                  </a:solidFill>
                </a:rPr>
                <a:t>Audio → MIDI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F7FAFF"/>
                  </a:solidFill>
                </a:rPr>
                <a:t>Spotify Basic Pitch</a:t>
              </a:r>
              <a:endParaRPr lang="en-US" sz="1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2635576" y="4087368"/>
              <a:ext cx="2395765" cy="7223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algn="ctr"/>
              <a:r>
                <a:rPr lang="en-US" sz="1600" b="1" dirty="0">
                  <a:solidFill>
                    <a:srgbClr val="F7FAFF"/>
                  </a:solidFill>
                </a:rPr>
                <a:t>Beat Tracking, Rhythm Quantization, Note Cleanup</a:t>
              </a:r>
            </a:p>
            <a:p>
              <a:pPr algn="ctr"/>
              <a:r>
                <a:rPr lang="en-US" sz="1600" b="1" dirty="0">
                  <a:solidFill>
                    <a:srgbClr val="F7FAFF"/>
                  </a:solidFill>
                </a:rPr>
                <a:t>Music21 / </a:t>
              </a:r>
              <a:r>
                <a:rPr lang="en-US" sz="1600" b="1" dirty="0" err="1">
                  <a:solidFill>
                    <a:srgbClr val="F7FAFF"/>
                  </a:solidFill>
                </a:rPr>
                <a:t>mido</a:t>
              </a:r>
              <a:r>
                <a:rPr lang="en-US" sz="1600" b="1" dirty="0">
                  <a:solidFill>
                    <a:srgbClr val="F7FAFF"/>
                  </a:solidFill>
                </a:rPr>
                <a:t> / </a:t>
              </a:r>
              <a:r>
                <a:rPr lang="en-US" sz="1600" b="1" dirty="0" err="1">
                  <a:solidFill>
                    <a:srgbClr val="F7FAFF"/>
                  </a:solidFill>
                </a:rPr>
                <a:t>librosa</a:t>
              </a:r>
              <a:endParaRPr lang="en-US" sz="16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5888736" y="4101989"/>
              <a:ext cx="1501902" cy="7223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 err="1">
                  <a:solidFill>
                    <a:srgbClr val="F7FAFF"/>
                  </a:solidFill>
                </a:rPr>
                <a:t>MusicXML</a:t>
              </a:r>
              <a:r>
                <a:rPr lang="en-US" sz="1600" b="1" dirty="0">
                  <a:solidFill>
                    <a:srgbClr val="F7FAFF"/>
                  </a:solidFill>
                </a:rPr>
                <a:t> Generation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F7FAFF"/>
                  </a:solidFill>
                </a:rPr>
                <a:t>music21</a:t>
              </a:r>
              <a:endParaRPr lang="en-US" sz="16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8133980" y="4087368"/>
              <a:ext cx="2252114" cy="7223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7FAFF"/>
                  </a:solidFill>
                </a:rPr>
                <a:t>Score Render &amp; Export</a:t>
              </a:r>
            </a:p>
            <a:p>
              <a:pPr marL="0" indent="0" algn="ctr">
                <a:buNone/>
              </a:pPr>
              <a:r>
                <a:rPr lang="en-US" sz="1600" b="1" dirty="0" err="1">
                  <a:solidFill>
                    <a:srgbClr val="F7FAFF"/>
                  </a:solidFill>
                </a:rPr>
                <a:t>Musescore</a:t>
              </a:r>
              <a:r>
                <a:rPr lang="en-US" sz="1600" b="1" dirty="0">
                  <a:solidFill>
                    <a:srgbClr val="F7FAFF"/>
                  </a:solidFill>
                </a:rPr>
                <a:t> / </a:t>
              </a:r>
              <a:r>
                <a:rPr lang="en-US" sz="1600" b="1" dirty="0" err="1">
                  <a:solidFill>
                    <a:srgbClr val="F7FAFF"/>
                  </a:solidFill>
                </a:rPr>
                <a:t>OpenSheetMusicDisplay</a:t>
              </a:r>
              <a:endParaRPr lang="en-US" sz="1600" dirty="0"/>
            </a:p>
          </p:txBody>
        </p:sp>
      </p:grpSp>
      <p:sp>
        <p:nvSpPr>
          <p:cNvPr id="40" name="Shape 38"/>
          <p:cNvSpPr/>
          <p:nvPr/>
        </p:nvSpPr>
        <p:spPr>
          <a:xfrm>
            <a:off x="548640" y="6309360"/>
            <a:ext cx="11064240" cy="0"/>
          </a:xfrm>
          <a:prstGeom prst="line">
            <a:avLst/>
          </a:prstGeom>
          <a:noFill/>
          <a:ln w="12700">
            <a:solidFill>
              <a:srgbClr val="2842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717666F7-BAB3-4032-555B-55CF3B765CFD}"/>
              </a:ext>
            </a:extLst>
          </p:cNvPr>
          <p:cNvSpPr/>
          <p:nvPr/>
        </p:nvSpPr>
        <p:spPr>
          <a:xfrm>
            <a:off x="548640" y="69494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3600" b="1" dirty="0">
                <a:solidFill>
                  <a:srgbClr val="34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altLang="ko-KR" sz="3600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7EC3F3C-0905-5E34-0EF7-0CB0CFAF196A}"/>
              </a:ext>
            </a:extLst>
          </p:cNvPr>
          <p:cNvCxnSpPr>
            <a:cxnSpLocks/>
          </p:cNvCxnSpPr>
          <p:nvPr/>
        </p:nvCxnSpPr>
        <p:spPr>
          <a:xfrm>
            <a:off x="2239881" y="2464231"/>
            <a:ext cx="467274" cy="0"/>
          </a:xfrm>
          <a:prstGeom prst="straightConnector1">
            <a:avLst/>
          </a:prstGeom>
          <a:ln w="28575">
            <a:solidFill>
              <a:srgbClr val="EBFD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3FC1C63B-4F03-D821-03B5-EFC315E58412}"/>
              </a:ext>
            </a:extLst>
          </p:cNvPr>
          <p:cNvCxnSpPr>
            <a:cxnSpLocks/>
          </p:cNvCxnSpPr>
          <p:nvPr/>
        </p:nvCxnSpPr>
        <p:spPr>
          <a:xfrm>
            <a:off x="5432290" y="2466815"/>
            <a:ext cx="467274" cy="0"/>
          </a:xfrm>
          <a:prstGeom prst="straightConnector1">
            <a:avLst/>
          </a:prstGeom>
          <a:ln w="28575">
            <a:solidFill>
              <a:srgbClr val="EBFD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C45F3FC-FD1C-36CA-5EDE-E2137F3C9E67}"/>
              </a:ext>
            </a:extLst>
          </p:cNvPr>
          <p:cNvCxnSpPr>
            <a:cxnSpLocks/>
          </p:cNvCxnSpPr>
          <p:nvPr/>
        </p:nvCxnSpPr>
        <p:spPr>
          <a:xfrm>
            <a:off x="8379872" y="2464231"/>
            <a:ext cx="467274" cy="0"/>
          </a:xfrm>
          <a:prstGeom prst="straightConnector1">
            <a:avLst/>
          </a:prstGeom>
          <a:ln w="28575">
            <a:solidFill>
              <a:srgbClr val="EBFD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C052B28B-48AB-7568-0A1F-7D63E12FC7E1}"/>
              </a:ext>
            </a:extLst>
          </p:cNvPr>
          <p:cNvCxnSpPr>
            <a:cxnSpLocks/>
          </p:cNvCxnSpPr>
          <p:nvPr/>
        </p:nvCxnSpPr>
        <p:spPr>
          <a:xfrm>
            <a:off x="2092405" y="4464236"/>
            <a:ext cx="467274" cy="0"/>
          </a:xfrm>
          <a:prstGeom prst="straightConnector1">
            <a:avLst/>
          </a:prstGeom>
          <a:ln w="28575">
            <a:solidFill>
              <a:srgbClr val="EBFD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60D082D9-5FE3-424E-42D4-5EB03A8B6E8E}"/>
              </a:ext>
            </a:extLst>
          </p:cNvPr>
          <p:cNvCxnSpPr>
            <a:cxnSpLocks/>
          </p:cNvCxnSpPr>
          <p:nvPr/>
        </p:nvCxnSpPr>
        <p:spPr>
          <a:xfrm>
            <a:off x="5778295" y="4464236"/>
            <a:ext cx="467274" cy="0"/>
          </a:xfrm>
          <a:prstGeom prst="straightConnector1">
            <a:avLst/>
          </a:prstGeom>
          <a:ln w="28575">
            <a:solidFill>
              <a:srgbClr val="EBFD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2E24CAF7-0579-43A2-31A5-F61741328EEF}"/>
              </a:ext>
            </a:extLst>
          </p:cNvPr>
          <p:cNvCxnSpPr>
            <a:cxnSpLocks/>
          </p:cNvCxnSpPr>
          <p:nvPr/>
        </p:nvCxnSpPr>
        <p:spPr>
          <a:xfrm>
            <a:off x="8334674" y="4464235"/>
            <a:ext cx="467274" cy="0"/>
          </a:xfrm>
          <a:prstGeom prst="straightConnector1">
            <a:avLst/>
          </a:prstGeom>
          <a:ln w="28575">
            <a:solidFill>
              <a:srgbClr val="EBFD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321040" y="320040"/>
            <a:ext cx="3246120" cy="3246120"/>
          </a:xfrm>
          <a:prstGeom prst="arc">
            <a:avLst/>
          </a:prstGeom>
          <a:solidFill>
            <a:srgbClr val="FFFFFF">
              <a:alpha val="0"/>
            </a:srgbClr>
          </a:solidFill>
          <a:ln w="19050">
            <a:solidFill>
              <a:srgbClr val="4D7CF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4160520"/>
            <a:ext cx="2423160" cy="2423160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A979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2800" b="1" dirty="0">
                <a:solidFill>
                  <a:srgbClr val="34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AI and signal-processing methods </a:t>
            </a:r>
            <a:endParaRPr lang="en-US" altLang="ko-KR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3063240" cy="3611880"/>
          </a:xfrm>
          <a:prstGeom prst="roundRect">
            <a:avLst>
              <a:gd name="adj" fmla="val 2985"/>
            </a:avLst>
          </a:prstGeom>
          <a:solidFill>
            <a:srgbClr val="0E203C"/>
          </a:solidFill>
          <a:ln w="15240">
            <a:solidFill>
              <a:srgbClr val="34D3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50392" y="1828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34D3FF"/>
                </a:solidFill>
              </a:rPr>
              <a:t>〰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527048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AFF"/>
                </a:solidFill>
              </a:rPr>
              <a:t>Separate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41832" y="263347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4D3FF"/>
                </a:solidFill>
              </a:rPr>
              <a:t>Demucs / Hybrid Transformer Demucs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354787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4D9"/>
                </a:solidFill>
              </a:rPr>
              <a:t>Split mixed audio into various instruments like vocals, drums, bass, and accompaniment stems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16552" y="1600200"/>
            <a:ext cx="3063240" cy="3611880"/>
          </a:xfrm>
          <a:prstGeom prst="roundRect">
            <a:avLst>
              <a:gd name="adj" fmla="val 2985"/>
            </a:avLst>
          </a:prstGeom>
          <a:solidFill>
            <a:srgbClr val="0E203C"/>
          </a:solidFill>
          <a:ln w="15240">
            <a:solidFill>
              <a:srgbClr val="A97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81144" y="1828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A979FF"/>
                </a:solidFill>
              </a:rPr>
              <a:t>◉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525780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AFF"/>
                </a:solidFill>
              </a:rPr>
              <a:t>Classify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A979FF"/>
                </a:solidFill>
              </a:rPr>
              <a:t>CNN / Audio Spectrogram Transformer / YAMNet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72584" y="354787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4D9"/>
                </a:solidFill>
              </a:rPr>
              <a:t>Label each stem as melody, bass, piano, guitar, drums or unknown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47304" y="1600200"/>
            <a:ext cx="3063240" cy="3611880"/>
          </a:xfrm>
          <a:prstGeom prst="roundRect">
            <a:avLst>
              <a:gd name="adj" fmla="val 2985"/>
            </a:avLst>
          </a:prstGeom>
          <a:solidFill>
            <a:srgbClr val="0E203C"/>
          </a:solidFill>
          <a:ln w="15240">
            <a:solidFill>
              <a:srgbClr val="7CF9D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11896" y="1828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7CF9D4"/>
                </a:solidFill>
              </a:rPr>
              <a:t>♬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8988552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AFF"/>
                </a:solidFill>
              </a:rPr>
              <a:t>Transcribe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03336" y="263347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CF9D4"/>
                </a:solidFill>
              </a:rPr>
              <a:t>Spotify Basic Pitch / ByteDance piano_transcription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03336" y="354787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4D9"/>
                </a:solidFill>
              </a:rPr>
              <a:t>Convert selected stems into MIDI-like pitch, onset, offset, duration, and velocity.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6309360"/>
            <a:ext cx="11064240" cy="0"/>
          </a:xfrm>
          <a:prstGeom prst="line">
            <a:avLst/>
          </a:prstGeom>
          <a:noFill/>
          <a:ln w="12700">
            <a:solidFill>
              <a:srgbClr val="2842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9E160-1C4C-7CDE-518A-AAF6C87D2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BD2344-3B85-30E5-CF34-72DFACD976E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ED3139-CCFE-D04B-4A34-EFDBDD42D06A}"/>
              </a:ext>
            </a:extLst>
          </p:cNvPr>
          <p:cNvSpPr/>
          <p:nvPr/>
        </p:nvSpPr>
        <p:spPr>
          <a:xfrm>
            <a:off x="8321040" y="320040"/>
            <a:ext cx="3246120" cy="3246120"/>
          </a:xfrm>
          <a:prstGeom prst="arc">
            <a:avLst/>
          </a:prstGeom>
          <a:solidFill>
            <a:srgbClr val="FFFFFF">
              <a:alpha val="0"/>
            </a:srgbClr>
          </a:solidFill>
          <a:ln w="19050">
            <a:solidFill>
              <a:srgbClr val="4D7CF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4244EC-FA5D-EBC0-0FA8-3171A5564C70}"/>
              </a:ext>
            </a:extLst>
          </p:cNvPr>
          <p:cNvSpPr/>
          <p:nvPr/>
        </p:nvSpPr>
        <p:spPr>
          <a:xfrm>
            <a:off x="182880" y="4160520"/>
            <a:ext cx="2423160" cy="2423160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A979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EFE0088-5F96-BDDB-4A5E-7599D472140E}"/>
              </a:ext>
            </a:extLst>
          </p:cNvPr>
          <p:cNvSpPr/>
          <p:nvPr/>
        </p:nvSpPr>
        <p:spPr>
          <a:xfrm>
            <a:off x="685800" y="1600200"/>
            <a:ext cx="3063240" cy="3611880"/>
          </a:xfrm>
          <a:prstGeom prst="roundRect">
            <a:avLst>
              <a:gd name="adj" fmla="val 2985"/>
            </a:avLst>
          </a:prstGeom>
          <a:solidFill>
            <a:srgbClr val="0E203C"/>
          </a:solidFill>
          <a:ln w="15240">
            <a:solidFill>
              <a:srgbClr val="34D3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2F1445A-5F7D-0667-4686-86D266744675}"/>
              </a:ext>
            </a:extLst>
          </p:cNvPr>
          <p:cNvSpPr/>
          <p:nvPr/>
        </p:nvSpPr>
        <p:spPr>
          <a:xfrm>
            <a:off x="850392" y="1828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34D3FF"/>
                </a:solidFill>
              </a:rPr>
              <a:t>〰</a:t>
            </a:r>
            <a:endParaRPr lang="en-US" sz="3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2B99C44-90E5-0605-3DA9-35CB86CDBA30}"/>
              </a:ext>
            </a:extLst>
          </p:cNvPr>
          <p:cNvSpPr/>
          <p:nvPr/>
        </p:nvSpPr>
        <p:spPr>
          <a:xfrm>
            <a:off x="1527048" y="1920240"/>
            <a:ext cx="19568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AFF"/>
                </a:solidFill>
              </a:rPr>
              <a:t>Cleanup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3F9FF4-33A6-D335-CE07-5E92FF94463C}"/>
              </a:ext>
            </a:extLst>
          </p:cNvPr>
          <p:cNvSpPr/>
          <p:nvPr/>
        </p:nvSpPr>
        <p:spPr>
          <a:xfrm>
            <a:off x="941832" y="263347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b="1" dirty="0" err="1">
                <a:solidFill>
                  <a:srgbClr val="34D3FF"/>
                </a:solidFill>
              </a:rPr>
              <a:t>Librosa</a:t>
            </a:r>
            <a:r>
              <a:rPr lang="en-US" sz="1400" b="1" dirty="0">
                <a:solidFill>
                  <a:srgbClr val="34D3FF"/>
                </a:solidFill>
              </a:rPr>
              <a:t>, </a:t>
            </a:r>
            <a:r>
              <a:rPr lang="en-US" sz="1400" b="1" dirty="0" err="1">
                <a:solidFill>
                  <a:srgbClr val="34D3FF"/>
                </a:solidFill>
              </a:rPr>
              <a:t>Madmom</a:t>
            </a:r>
            <a:r>
              <a:rPr lang="en-US" sz="1400" b="1" dirty="0">
                <a:solidFill>
                  <a:srgbClr val="34D3FF"/>
                </a:solidFill>
              </a:rPr>
              <a:t>, music21, </a:t>
            </a:r>
            <a:r>
              <a:rPr lang="en-US" sz="1400" b="1" dirty="0" err="1">
                <a:solidFill>
                  <a:srgbClr val="34D3FF"/>
                </a:solidFill>
              </a:rPr>
              <a:t>pretty_midi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C4C36E5-4591-DA01-0464-D739918A9FC9}"/>
              </a:ext>
            </a:extLst>
          </p:cNvPr>
          <p:cNvSpPr/>
          <p:nvPr/>
        </p:nvSpPr>
        <p:spPr>
          <a:xfrm>
            <a:off x="941832" y="354787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rgbClr val="B9C4D9"/>
                </a:solidFill>
              </a:rPr>
              <a:t>Convert raw note events into readable notation with beat tracking, tempo estimation, onset alignment</a:t>
            </a:r>
            <a:endParaRPr lang="en-US" sz="12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6D41120-B817-53F4-5F33-6FB8215D79F0}"/>
              </a:ext>
            </a:extLst>
          </p:cNvPr>
          <p:cNvSpPr/>
          <p:nvPr/>
        </p:nvSpPr>
        <p:spPr>
          <a:xfrm>
            <a:off x="4416552" y="1600200"/>
            <a:ext cx="3063240" cy="3611880"/>
          </a:xfrm>
          <a:prstGeom prst="roundRect">
            <a:avLst>
              <a:gd name="adj" fmla="val 2985"/>
            </a:avLst>
          </a:prstGeom>
          <a:solidFill>
            <a:srgbClr val="0E203C"/>
          </a:solidFill>
          <a:ln w="15240">
            <a:solidFill>
              <a:srgbClr val="A97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25F43EA-0508-09C2-BC55-EA54F788CBB4}"/>
              </a:ext>
            </a:extLst>
          </p:cNvPr>
          <p:cNvSpPr/>
          <p:nvPr/>
        </p:nvSpPr>
        <p:spPr>
          <a:xfrm>
            <a:off x="4581144" y="1828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A979FF"/>
                </a:solidFill>
              </a:rPr>
              <a:t>◉</a:t>
            </a:r>
            <a:endParaRPr lang="en-US" sz="3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B5427D7-EC6F-A19B-F6FF-871FA63CF5AA}"/>
              </a:ext>
            </a:extLst>
          </p:cNvPr>
          <p:cNvSpPr/>
          <p:nvPr/>
        </p:nvSpPr>
        <p:spPr>
          <a:xfrm>
            <a:off x="525780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F7FAFF"/>
                </a:solidFill>
              </a:rPr>
              <a:t>MusicXML</a:t>
            </a:r>
            <a:r>
              <a:rPr lang="en-US" b="1" dirty="0">
                <a:solidFill>
                  <a:srgbClr val="F7FAFF"/>
                </a:solidFill>
              </a:rPr>
              <a:t> Generation</a:t>
            </a:r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96EF86D-DBBB-CAAB-BB39-471FF51DBE7F}"/>
              </a:ext>
            </a:extLst>
          </p:cNvPr>
          <p:cNvSpPr/>
          <p:nvPr/>
        </p:nvSpPr>
        <p:spPr>
          <a:xfrm>
            <a:off x="4672584" y="263347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b="1" dirty="0">
                <a:solidFill>
                  <a:srgbClr val="A979FF"/>
                </a:solidFill>
              </a:rPr>
              <a:t>music21, </a:t>
            </a:r>
            <a:r>
              <a:rPr lang="en-US" sz="1400" b="1" dirty="0" err="1">
                <a:solidFill>
                  <a:srgbClr val="A979FF"/>
                </a:solidFill>
              </a:rPr>
              <a:t>partitura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9DE7CD9-4B98-3318-F659-9D22C88E953D}"/>
              </a:ext>
            </a:extLst>
          </p:cNvPr>
          <p:cNvSpPr/>
          <p:nvPr/>
        </p:nvSpPr>
        <p:spPr>
          <a:xfrm>
            <a:off x="4672584" y="354787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rgbClr val="B9C4D9"/>
                </a:solidFill>
              </a:rPr>
              <a:t>Convert cleaned note events into score format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30196FC-155A-F854-E24A-9AE056976A71}"/>
              </a:ext>
            </a:extLst>
          </p:cNvPr>
          <p:cNvSpPr/>
          <p:nvPr/>
        </p:nvSpPr>
        <p:spPr>
          <a:xfrm>
            <a:off x="8147304" y="1600200"/>
            <a:ext cx="3063240" cy="3611880"/>
          </a:xfrm>
          <a:prstGeom prst="roundRect">
            <a:avLst>
              <a:gd name="adj" fmla="val 2985"/>
            </a:avLst>
          </a:prstGeom>
          <a:solidFill>
            <a:srgbClr val="0E203C"/>
          </a:solidFill>
          <a:ln w="15240">
            <a:solidFill>
              <a:srgbClr val="7CF9D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EDA7AFF-35E0-AD54-A509-B8CD1D18C817}"/>
              </a:ext>
            </a:extLst>
          </p:cNvPr>
          <p:cNvSpPr/>
          <p:nvPr/>
        </p:nvSpPr>
        <p:spPr>
          <a:xfrm>
            <a:off x="8311896" y="1828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7CF9D4"/>
                </a:solidFill>
              </a:rPr>
              <a:t>♬</a:t>
            </a:r>
            <a:endParaRPr lang="en-US" sz="3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F11916B-27FC-5F66-C6BD-BBE70543CCD3}"/>
              </a:ext>
            </a:extLst>
          </p:cNvPr>
          <p:cNvSpPr/>
          <p:nvPr/>
        </p:nvSpPr>
        <p:spPr>
          <a:xfrm>
            <a:off x="8988552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AFF"/>
                </a:solidFill>
              </a:rPr>
              <a:t>Render</a:t>
            </a:r>
            <a:endParaRPr lang="en-US" sz="2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7242031-B660-4549-B279-B3CB7B7249BB}"/>
              </a:ext>
            </a:extLst>
          </p:cNvPr>
          <p:cNvSpPr/>
          <p:nvPr/>
        </p:nvSpPr>
        <p:spPr>
          <a:xfrm>
            <a:off x="8403336" y="263347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b="1" dirty="0" err="1">
                <a:solidFill>
                  <a:srgbClr val="7CF9D4"/>
                </a:solidFill>
              </a:rPr>
              <a:t>OpenSheetMusicDisplay</a:t>
            </a:r>
            <a:r>
              <a:rPr lang="en-US" sz="1400" b="1" dirty="0">
                <a:solidFill>
                  <a:srgbClr val="7CF9D4"/>
                </a:solidFill>
              </a:rPr>
              <a:t> / </a:t>
            </a:r>
            <a:r>
              <a:rPr lang="en-US" sz="1400" b="1" dirty="0" err="1">
                <a:solidFill>
                  <a:srgbClr val="7CF9D4"/>
                </a:solidFill>
              </a:rPr>
              <a:t>MuseScore</a:t>
            </a:r>
            <a:r>
              <a:rPr lang="en-US" sz="1400" b="1" dirty="0">
                <a:solidFill>
                  <a:srgbClr val="7CF9D4"/>
                </a:solidFill>
              </a:rPr>
              <a:t> CLI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592F06C-0093-BFC9-C11A-087F477356E9}"/>
              </a:ext>
            </a:extLst>
          </p:cNvPr>
          <p:cNvSpPr/>
          <p:nvPr/>
        </p:nvSpPr>
        <p:spPr>
          <a:xfrm>
            <a:off x="8403336" y="354787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rgbClr val="B9C4D9"/>
                </a:solidFill>
              </a:rPr>
              <a:t>Users can view, edit, print, and reuse the generated score</a:t>
            </a:r>
            <a:endParaRPr lang="en-US" sz="12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66B2001-14B0-DF6E-9701-F9310A270950}"/>
              </a:ext>
            </a:extLst>
          </p:cNvPr>
          <p:cNvSpPr/>
          <p:nvPr/>
        </p:nvSpPr>
        <p:spPr>
          <a:xfrm>
            <a:off x="548640" y="6309360"/>
            <a:ext cx="11064240" cy="0"/>
          </a:xfrm>
          <a:prstGeom prst="line">
            <a:avLst/>
          </a:prstGeom>
          <a:noFill/>
          <a:ln w="12700">
            <a:solidFill>
              <a:srgbClr val="2842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B56EF119-1417-12C5-E752-C69C81003B0D}"/>
              </a:ext>
            </a:extLst>
          </p:cNvPr>
          <p:cNvSpPr/>
          <p:nvPr/>
        </p:nvSpPr>
        <p:spPr>
          <a:xfrm>
            <a:off x="548640" y="69494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2800" b="1" dirty="0">
                <a:solidFill>
                  <a:srgbClr val="34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AI and signal-processing methods 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84156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321040" y="320040"/>
            <a:ext cx="3246120" cy="3246120"/>
          </a:xfrm>
          <a:prstGeom prst="arc">
            <a:avLst/>
          </a:prstGeom>
          <a:solidFill>
            <a:srgbClr val="FFFFFF">
              <a:alpha val="0"/>
            </a:srgbClr>
          </a:solidFill>
          <a:ln w="19050">
            <a:solidFill>
              <a:srgbClr val="4D7CF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4160520"/>
            <a:ext cx="2423160" cy="2423160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A979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47900" y="2221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AFF"/>
                </a:solidFill>
              </a:rPr>
              <a:t>Backend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7900" y="2587752"/>
            <a:ext cx="1920240" cy="310896"/>
          </a:xfrm>
          <a:prstGeom prst="roundRect">
            <a:avLst>
              <a:gd name="adj" fmla="val 29412"/>
            </a:avLst>
          </a:prstGeom>
          <a:solidFill>
            <a:srgbClr val="4D7CFE">
              <a:alpha val="90000"/>
            </a:srgbClr>
          </a:solidFill>
          <a:ln w="12700">
            <a:solidFill>
              <a:srgbClr val="4D7C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21052" y="2660904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F"/>
                </a:solidFill>
              </a:rPr>
              <a:t>Python / FastAPI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6740" y="2587752"/>
            <a:ext cx="1920240" cy="310896"/>
          </a:xfrm>
          <a:prstGeom prst="roundRect">
            <a:avLst>
              <a:gd name="adj" fmla="val 29412"/>
            </a:avLst>
          </a:prstGeom>
          <a:solidFill>
            <a:srgbClr val="A979FF">
              <a:alpha val="90000"/>
            </a:srgbClr>
          </a:solidFill>
          <a:ln w="12700">
            <a:solidFill>
              <a:srgbClr val="A97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69892" y="2660904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F"/>
                </a:solidFill>
              </a:rPr>
              <a:t>PyTorch / TensorFlow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47900" y="3118104"/>
            <a:ext cx="1920240" cy="310896"/>
          </a:xfrm>
          <a:prstGeom prst="roundRect">
            <a:avLst>
              <a:gd name="adj" fmla="val 29412"/>
            </a:avLst>
          </a:prstGeom>
          <a:solidFill>
            <a:srgbClr val="4D7CFE">
              <a:alpha val="90000"/>
            </a:srgbClr>
          </a:solidFill>
          <a:ln w="12700">
            <a:solidFill>
              <a:srgbClr val="4D7C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21052" y="3191256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F"/>
                </a:solidFill>
              </a:rPr>
              <a:t>librosa / torchaudio / ffmpeg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6740" y="3118104"/>
            <a:ext cx="1920240" cy="310896"/>
          </a:xfrm>
          <a:prstGeom prst="roundRect">
            <a:avLst>
              <a:gd name="adj" fmla="val 29412"/>
            </a:avLst>
          </a:prstGeom>
          <a:solidFill>
            <a:srgbClr val="A979FF">
              <a:alpha val="90000"/>
            </a:srgbClr>
          </a:solidFill>
          <a:ln w="12700">
            <a:solidFill>
              <a:srgbClr val="A97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369892" y="3191256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F"/>
                </a:solidFill>
              </a:rPr>
              <a:t>Demucs + Basic Pitch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47900" y="3648456"/>
            <a:ext cx="1920240" cy="310896"/>
          </a:xfrm>
          <a:prstGeom prst="roundRect">
            <a:avLst>
              <a:gd name="adj" fmla="val 29412"/>
            </a:avLst>
          </a:prstGeom>
          <a:solidFill>
            <a:srgbClr val="4D7CFE">
              <a:alpha val="90000"/>
            </a:srgbClr>
          </a:solidFill>
          <a:ln w="12700">
            <a:solidFill>
              <a:srgbClr val="4D7C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21052" y="372160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F"/>
                </a:solidFill>
              </a:rPr>
              <a:t>music21 / partitura / mido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6740" y="3648456"/>
            <a:ext cx="1920240" cy="310896"/>
          </a:xfrm>
          <a:prstGeom prst="roundRect">
            <a:avLst>
              <a:gd name="adj" fmla="val 29412"/>
            </a:avLst>
          </a:prstGeom>
          <a:solidFill>
            <a:srgbClr val="A979FF">
              <a:alpha val="90000"/>
            </a:srgbClr>
          </a:solidFill>
          <a:ln w="12700">
            <a:solidFill>
              <a:srgbClr val="A97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369892" y="372160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F"/>
                </a:solidFill>
              </a:rPr>
              <a:t>MuseScore CLI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87411" y="2203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AFF"/>
                </a:solidFill>
              </a:rPr>
              <a:t>Frontend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87411" y="2587752"/>
            <a:ext cx="1920240" cy="310896"/>
          </a:xfrm>
          <a:prstGeom prst="roundRect">
            <a:avLst>
              <a:gd name="adj" fmla="val 29412"/>
            </a:avLst>
          </a:prstGeom>
          <a:solidFill>
            <a:srgbClr val="34D3FF">
              <a:alpha val="90000"/>
            </a:srgbClr>
          </a:solidFill>
          <a:ln w="12700">
            <a:solidFill>
              <a:srgbClr val="34D3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60563" y="2660904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F"/>
                </a:solidFill>
              </a:rPr>
              <a:t>React / TypeScript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36251" y="2587752"/>
            <a:ext cx="1920240" cy="310896"/>
          </a:xfrm>
          <a:prstGeom prst="roundRect">
            <a:avLst>
              <a:gd name="adj" fmla="val 29412"/>
            </a:avLst>
          </a:prstGeom>
          <a:solidFill>
            <a:srgbClr val="7CF9D4">
              <a:alpha val="90000"/>
            </a:srgbClr>
          </a:solidFill>
          <a:ln w="12700">
            <a:solidFill>
              <a:srgbClr val="7CF9D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609403" y="2660904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F"/>
                </a:solidFill>
              </a:rPr>
              <a:t>OpenSheetMusicDisplay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87411" y="3118104"/>
            <a:ext cx="1920240" cy="310896"/>
          </a:xfrm>
          <a:prstGeom prst="roundRect">
            <a:avLst>
              <a:gd name="adj" fmla="val 29412"/>
            </a:avLst>
          </a:prstGeom>
          <a:solidFill>
            <a:srgbClr val="34D3FF">
              <a:alpha val="90000"/>
            </a:srgbClr>
          </a:solidFill>
          <a:ln w="12700">
            <a:solidFill>
              <a:srgbClr val="34D3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60563" y="3191256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F"/>
                </a:solidFill>
              </a:rPr>
              <a:t>Waveform + stem player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36251" y="3118104"/>
            <a:ext cx="1920240" cy="310896"/>
          </a:xfrm>
          <a:prstGeom prst="roundRect">
            <a:avLst>
              <a:gd name="adj" fmla="val 29412"/>
            </a:avLst>
          </a:prstGeom>
          <a:solidFill>
            <a:srgbClr val="7CF9D4">
              <a:alpha val="90000"/>
            </a:srgbClr>
          </a:solidFill>
          <a:ln w="12700">
            <a:solidFill>
              <a:srgbClr val="7CF9D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609403" y="3191256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F"/>
                </a:solidFill>
              </a:rPr>
              <a:t>Correction interface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06440" y="1389888"/>
            <a:ext cx="0" cy="4160520"/>
          </a:xfrm>
          <a:prstGeom prst="line">
            <a:avLst/>
          </a:prstGeom>
          <a:noFill/>
          <a:ln w="12700">
            <a:solidFill>
              <a:srgbClr val="2842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48640" y="6309360"/>
            <a:ext cx="11064240" cy="0"/>
          </a:xfrm>
          <a:prstGeom prst="line">
            <a:avLst/>
          </a:prstGeom>
          <a:noFill/>
          <a:ln w="12700">
            <a:solidFill>
              <a:srgbClr val="2842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AAF20177-C887-4F50-FF6D-7C5F28AF404E}"/>
              </a:ext>
            </a:extLst>
          </p:cNvPr>
          <p:cNvSpPr/>
          <p:nvPr/>
        </p:nvSpPr>
        <p:spPr>
          <a:xfrm>
            <a:off x="548640" y="69494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2800" b="1" dirty="0">
                <a:solidFill>
                  <a:srgbClr val="34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</a:t>
            </a:r>
            <a:endParaRPr lang="en-US" altLang="ko-KR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8321040" y="320040"/>
            <a:ext cx="3246120" cy="3246120"/>
          </a:xfrm>
          <a:prstGeom prst="arc">
            <a:avLst/>
          </a:prstGeom>
          <a:solidFill>
            <a:srgbClr val="FFFFFF">
              <a:alpha val="0"/>
            </a:srgbClr>
          </a:solidFill>
          <a:ln w="19050">
            <a:solidFill>
              <a:srgbClr val="4D7CF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4160520"/>
            <a:ext cx="2423160" cy="2423160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A979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58368" y="1306761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AFF"/>
                </a:solidFill>
              </a:rPr>
              <a:t>A practical web-based music transcription assistant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F7FAFF"/>
                </a:solidFill>
              </a:rPr>
              <a:t>that produces editable first-draft sheet music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6309360"/>
            <a:ext cx="11064240" cy="0"/>
          </a:xfrm>
          <a:prstGeom prst="line">
            <a:avLst/>
          </a:prstGeom>
          <a:noFill/>
          <a:ln w="12700">
            <a:solidFill>
              <a:srgbClr val="2842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D6FAD8BB-3123-1EB4-19D6-1A3BE66C269E}"/>
              </a:ext>
            </a:extLst>
          </p:cNvPr>
          <p:cNvSpPr/>
          <p:nvPr/>
        </p:nvSpPr>
        <p:spPr>
          <a:xfrm>
            <a:off x="548640" y="69494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2800" b="1" dirty="0">
                <a:solidFill>
                  <a:srgbClr val="34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Outcome</a:t>
            </a:r>
            <a:endParaRPr lang="en-US" altLang="ko-KR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AA18D6-F3E8-0227-AC67-6F6850587CEF}"/>
              </a:ext>
            </a:extLst>
          </p:cNvPr>
          <p:cNvSpPr txBox="1"/>
          <p:nvPr/>
        </p:nvSpPr>
        <p:spPr>
          <a:xfrm>
            <a:off x="493776" y="1951264"/>
            <a:ext cx="10131879" cy="420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EBFDFF"/>
                </a:solidFill>
              </a:rPr>
              <a:t>Converts short audio recordings into editable sheet music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EBFDFF"/>
                </a:solidFill>
              </a:rPr>
              <a:t>Uses </a:t>
            </a:r>
            <a:r>
              <a:rPr lang="en-US" altLang="ko-KR" sz="2000" dirty="0" err="1">
                <a:solidFill>
                  <a:srgbClr val="EBFDFF"/>
                </a:solidFill>
              </a:rPr>
              <a:t>Demucs</a:t>
            </a:r>
            <a:r>
              <a:rPr lang="en-US" altLang="ko-KR" sz="2000" dirty="0">
                <a:solidFill>
                  <a:srgbClr val="EBFDFF"/>
                </a:solidFill>
              </a:rPr>
              <a:t>-based source separation to isolate musical stems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EBFDFF"/>
                </a:solidFill>
              </a:rPr>
              <a:t>Applies stem classification to identify instrument or musical role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EBFDFF"/>
                </a:solidFill>
              </a:rPr>
              <a:t>Transcribes audio into MIDI-like note events using Basic Pitch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EBFDFF"/>
                </a:solidFill>
              </a:rPr>
              <a:t>Supports optional piano-specific transcription for piano stems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EBFDFF"/>
                </a:solidFill>
              </a:rPr>
              <a:t>Cleans raw transcription through rhythm quantization and symbolic 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EBFDFF"/>
                </a:solidFill>
              </a:rPr>
              <a:t>Generates </a:t>
            </a:r>
            <a:r>
              <a:rPr lang="en-US" altLang="ko-KR" sz="2000" dirty="0" err="1">
                <a:solidFill>
                  <a:srgbClr val="EBFDFF"/>
                </a:solidFill>
              </a:rPr>
              <a:t>MusicXML</a:t>
            </a:r>
            <a:r>
              <a:rPr lang="en-US" altLang="ko-KR" sz="2000" dirty="0">
                <a:solidFill>
                  <a:srgbClr val="EBFDFF"/>
                </a:solidFill>
              </a:rPr>
              <a:t> for editable notation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EBFDFF"/>
                </a:solidFill>
              </a:rPr>
              <a:t>Renders scores with </a:t>
            </a:r>
            <a:r>
              <a:rPr lang="en-US" altLang="ko-KR" sz="2000" dirty="0" err="1">
                <a:solidFill>
                  <a:srgbClr val="EBFDFF"/>
                </a:solidFill>
              </a:rPr>
              <a:t>MuseScore</a:t>
            </a:r>
            <a:r>
              <a:rPr lang="en-US" altLang="ko-KR" sz="2000" dirty="0">
                <a:solidFill>
                  <a:srgbClr val="EBFDFF"/>
                </a:solidFill>
              </a:rPr>
              <a:t> and </a:t>
            </a:r>
            <a:r>
              <a:rPr lang="en-US" altLang="ko-KR" sz="2000" dirty="0" err="1">
                <a:solidFill>
                  <a:srgbClr val="EBFDFF"/>
                </a:solidFill>
              </a:rPr>
              <a:t>OpenSheetMusicDisplay</a:t>
            </a:r>
            <a:endParaRPr lang="en-US" altLang="ko-KR" sz="2000" dirty="0">
              <a:solidFill>
                <a:srgbClr val="EBFDFF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EBFDFF"/>
                </a:solidFill>
              </a:rPr>
              <a:t>Creates a practical human-in-the-loop workflow for music transcription</a:t>
            </a:r>
            <a:endParaRPr lang="ko-KR" altLang="en-US" sz="2000" dirty="0">
              <a:solidFill>
                <a:srgbClr val="EBFD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Malgun Gothic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539</Words>
  <Application>Microsoft Office PowerPoint</Application>
  <PresentationFormat>와이드스크린</PresentationFormat>
  <Paragraphs>110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Malgun Gothic</vt:lpstr>
      <vt:lpstr>Malgun Gothic Semilight</vt:lpstr>
      <vt:lpstr>Aptos</vt:lpstr>
      <vt:lpstr>Aptos Display</vt:lpstr>
      <vt:lpstr>Arial</vt:lpstr>
      <vt:lpstr>Grandview Display</vt:lpstr>
      <vt:lpstr>Office Theme</vt:lpstr>
      <vt:lpstr>DashVTI</vt:lpstr>
      <vt:lpstr>Transformer Based Music Transcription &amp; MusicXML Generation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HateSlop AI Study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Transformer-Based Music Transcription and MusicXML Sheet Generation System</dc:title>
  <dc:subject>Project proposal presentation</dc:subject>
  <dc:creator>OpenAI</dc:creator>
  <cp:lastModifiedBy>Min Soo Kim</cp:lastModifiedBy>
  <cp:revision>2</cp:revision>
  <dcterms:created xsi:type="dcterms:W3CDTF">2026-06-03T07:58:57Z</dcterms:created>
  <dcterms:modified xsi:type="dcterms:W3CDTF">2026-06-03T08:56:44Z</dcterms:modified>
</cp:coreProperties>
</file>